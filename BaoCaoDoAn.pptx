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77" r:id="rId4"/>
    <p:sldId id="278" r:id="rId5"/>
    <p:sldId id="281" r:id="rId6"/>
    <p:sldId id="280" r:id="rId7"/>
    <p:sldId id="282" r:id="rId8"/>
    <p:sldId id="283" r:id="rId9"/>
    <p:sldId id="284" r:id="rId10"/>
    <p:sldId id="287" r:id="rId11"/>
    <p:sldId id="285" r:id="rId12"/>
    <p:sldId id="286" r:id="rId13"/>
    <p:sldId id="273" r:id="rId14"/>
  </p:sldIdLst>
  <p:sldSz cx="18288000" cy="10287000"/>
  <p:notesSz cx="6858000" cy="9144000"/>
  <p:embeddedFontLst>
    <p:embeddedFont>
      <p:font typeface="Cabin" panose="020B0604020202020204" charset="0"/>
      <p:regular r:id="rId16"/>
    </p:embeddedFont>
    <p:embeddedFont>
      <p:font typeface="Muli" panose="020B0604020202020204" charset="0"/>
      <p:regular r:id="rId17"/>
    </p:embeddedFont>
    <p:embeddedFont>
      <p:font typeface="Muli Bold" panose="020B0604020202020204" charset="0"/>
      <p:regular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11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3AC8CC-1340-4A8B-A2F5-097F5CB42540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42C593-0965-40F0-A12A-D1686004C0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937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6.png"/><Relationship Id="rId12" Type="http://schemas.openxmlformats.org/officeDocument/2006/relationships/slide" Target="slide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svg"/><Relationship Id="rId11" Type="http://schemas.openxmlformats.org/officeDocument/2006/relationships/slide" Target="slide6.xml"/><Relationship Id="rId5" Type="http://schemas.openxmlformats.org/officeDocument/2006/relationships/image" Target="../media/image5.png"/><Relationship Id="rId10" Type="http://schemas.openxmlformats.org/officeDocument/2006/relationships/slide" Target="slide5.xml"/><Relationship Id="rId4" Type="http://schemas.openxmlformats.org/officeDocument/2006/relationships/image" Target="../media/image15.svg"/><Relationship Id="rId9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1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5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5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svg"/><Relationship Id="rId13" Type="http://schemas.openxmlformats.org/officeDocument/2006/relationships/image" Target="../media/image15.png"/><Relationship Id="rId18" Type="http://schemas.openxmlformats.org/officeDocument/2006/relationships/image" Target="../media/image61.sv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12" Type="http://schemas.openxmlformats.org/officeDocument/2006/relationships/image" Target="../media/image3.sv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59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11" Type="http://schemas.openxmlformats.org/officeDocument/2006/relationships/image" Target="../media/image2.png"/><Relationship Id="rId5" Type="http://schemas.openxmlformats.org/officeDocument/2006/relationships/image" Target="../media/image13.png"/><Relationship Id="rId15" Type="http://schemas.openxmlformats.org/officeDocument/2006/relationships/image" Target="../media/image16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4.png"/><Relationship Id="rId14" Type="http://schemas.openxmlformats.org/officeDocument/2006/relationships/image" Target="../media/image5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-38100"/>
            <a:ext cx="18288000" cy="10325100"/>
            <a:chOff x="0" y="0"/>
            <a:chExt cx="3286657" cy="221902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86657" cy="2219021"/>
            </a:xfrm>
            <a:custGeom>
              <a:avLst/>
              <a:gdLst/>
              <a:ahLst/>
              <a:cxnLst/>
              <a:rect l="l" t="t" r="r" b="b"/>
              <a:pathLst>
                <a:path w="3286657" h="2219021">
                  <a:moveTo>
                    <a:pt x="0" y="0"/>
                  </a:moveTo>
                  <a:lnTo>
                    <a:pt x="3286657" y="0"/>
                  </a:lnTo>
                  <a:lnTo>
                    <a:pt x="3286657" y="2219021"/>
                  </a:lnTo>
                  <a:lnTo>
                    <a:pt x="0" y="2219021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5" name="Freeform 5"/>
          <p:cNvSpPr/>
          <p:nvPr/>
        </p:nvSpPr>
        <p:spPr>
          <a:xfrm flipH="1">
            <a:off x="-2156129" y="8872350"/>
            <a:ext cx="6662470" cy="1611106"/>
          </a:xfrm>
          <a:custGeom>
            <a:avLst/>
            <a:gdLst/>
            <a:ahLst/>
            <a:cxnLst/>
            <a:rect l="l" t="t" r="r" b="b"/>
            <a:pathLst>
              <a:path w="6662470" h="1611106">
                <a:moveTo>
                  <a:pt x="6662470" y="0"/>
                </a:moveTo>
                <a:lnTo>
                  <a:pt x="0" y="0"/>
                </a:lnTo>
                <a:lnTo>
                  <a:pt x="0" y="1611107"/>
                </a:lnTo>
                <a:lnTo>
                  <a:pt x="6662470" y="1611107"/>
                </a:lnTo>
                <a:lnTo>
                  <a:pt x="666247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flipH="1">
            <a:off x="14791434" y="-196457"/>
            <a:ext cx="5652695" cy="1366924"/>
          </a:xfrm>
          <a:custGeom>
            <a:avLst/>
            <a:gdLst/>
            <a:ahLst/>
            <a:cxnLst/>
            <a:rect l="l" t="t" r="r" b="b"/>
            <a:pathLst>
              <a:path w="5652695" h="1366924">
                <a:moveTo>
                  <a:pt x="5652695" y="0"/>
                </a:moveTo>
                <a:lnTo>
                  <a:pt x="0" y="0"/>
                </a:lnTo>
                <a:lnTo>
                  <a:pt x="0" y="1366925"/>
                </a:lnTo>
                <a:lnTo>
                  <a:pt x="5652695" y="1366925"/>
                </a:lnTo>
                <a:lnTo>
                  <a:pt x="56526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6" name="Rectangle 25"/>
          <p:cNvSpPr/>
          <p:nvPr/>
        </p:nvSpPr>
        <p:spPr>
          <a:xfrm>
            <a:off x="4267199" y="298457"/>
            <a:ext cx="9144000" cy="116955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Muli"/>
              </a:rPr>
              <a:t>KHOA KỸ THUẬT VÀ CÔNG NGHỆ</a:t>
            </a:r>
          </a:p>
          <a:p>
            <a:pPr algn="ctr"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Muli Bold"/>
              </a:rPr>
              <a:t>BỘ MÔN CÔNG NGHỆ THÔNG TIN</a:t>
            </a:r>
          </a:p>
        </p:txBody>
      </p:sp>
      <p:sp>
        <p:nvSpPr>
          <p:cNvPr id="27" name="Freeform 2"/>
          <p:cNvSpPr/>
          <p:nvPr/>
        </p:nvSpPr>
        <p:spPr>
          <a:xfrm>
            <a:off x="7998195" y="1664465"/>
            <a:ext cx="1682007" cy="1498198"/>
          </a:xfrm>
          <a:custGeom>
            <a:avLst/>
            <a:gdLst/>
            <a:ahLst/>
            <a:cxnLst/>
            <a:rect l="l" t="t" r="r" b="b"/>
            <a:pathLst>
              <a:path w="1682007" h="1498198">
                <a:moveTo>
                  <a:pt x="0" y="0"/>
                </a:moveTo>
                <a:lnTo>
                  <a:pt x="1682006" y="0"/>
                </a:lnTo>
                <a:lnTo>
                  <a:pt x="1682006" y="1498198"/>
                </a:lnTo>
                <a:lnTo>
                  <a:pt x="0" y="14981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8983" t="-12783" r="-18852" b="-23242"/>
            </a:stretch>
          </a:blipFill>
        </p:spPr>
      </p:sp>
      <p:sp>
        <p:nvSpPr>
          <p:cNvPr id="28" name="Rectangle 27"/>
          <p:cNvSpPr/>
          <p:nvPr/>
        </p:nvSpPr>
        <p:spPr>
          <a:xfrm>
            <a:off x="5261923" y="3513882"/>
            <a:ext cx="7463903" cy="77200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Muli"/>
              </a:rPr>
              <a:t>BÁO CÁO ĐỒ ÁN </a:t>
            </a:r>
            <a:r>
              <a:rPr lang="en-US" sz="3500" dirty="0" smtClean="0">
                <a:solidFill>
                  <a:srgbClr val="000000"/>
                </a:solidFill>
                <a:latin typeface="Muli"/>
              </a:rPr>
              <a:t>CHUYÊN	 NGÀNH</a:t>
            </a:r>
            <a:endParaRPr lang="en-US" sz="3500" dirty="0">
              <a:solidFill>
                <a:srgbClr val="000000"/>
              </a:solidFill>
              <a:latin typeface="Mul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526272" y="4565768"/>
            <a:ext cx="15999727" cy="7111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Phát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hiện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ảnh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y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khoa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bất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thường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bằng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ứng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dụng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mô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hình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CNN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cải</a:t>
            </a:r>
            <a:r>
              <a:rPr lang="en-US" sz="3500" b="1" dirty="0" smtClean="0">
                <a:solidFill>
                  <a:srgbClr val="000000"/>
                </a:solidFill>
                <a:latin typeface="Muli"/>
              </a:rPr>
              <a:t> </a:t>
            </a:r>
            <a:r>
              <a:rPr lang="en-US" sz="3500" b="1" dirty="0" err="1" smtClean="0">
                <a:solidFill>
                  <a:srgbClr val="000000"/>
                </a:solidFill>
                <a:latin typeface="Muli"/>
              </a:rPr>
              <a:t>tiến</a:t>
            </a:r>
            <a:endParaRPr lang="en-US" sz="3500" b="1" dirty="0"/>
          </a:p>
        </p:txBody>
      </p:sp>
      <p:sp>
        <p:nvSpPr>
          <p:cNvPr id="30" name="TextBox 29"/>
          <p:cNvSpPr txBox="1"/>
          <p:nvPr/>
        </p:nvSpPr>
        <p:spPr>
          <a:xfrm>
            <a:off x="533400" y="6814232"/>
            <a:ext cx="55626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 err="1" smtClean="0">
                <a:latin typeface="Cabin" panose="020B0604020202020204" charset="0"/>
              </a:rPr>
              <a:t>Giáo</a:t>
            </a:r>
            <a:r>
              <a:rPr lang="en-US" sz="3500" dirty="0" smtClean="0">
                <a:latin typeface="Cabin" panose="020B0604020202020204" charset="0"/>
              </a:rPr>
              <a:t> </a:t>
            </a:r>
            <a:r>
              <a:rPr lang="en-US" sz="3500" dirty="0" err="1" smtClean="0">
                <a:latin typeface="Cabin" panose="020B0604020202020204" charset="0"/>
              </a:rPr>
              <a:t>viên</a:t>
            </a:r>
            <a:r>
              <a:rPr lang="en-US" sz="3500" dirty="0" smtClean="0">
                <a:latin typeface="Cabin" panose="020B0604020202020204" charset="0"/>
              </a:rPr>
              <a:t> </a:t>
            </a:r>
            <a:r>
              <a:rPr lang="en-US" sz="3500" dirty="0" err="1" smtClean="0">
                <a:latin typeface="Cabin" panose="020B0604020202020204" charset="0"/>
              </a:rPr>
              <a:t>hướng</a:t>
            </a:r>
            <a:r>
              <a:rPr lang="en-US" sz="3500" dirty="0" smtClean="0">
                <a:latin typeface="Cabin" panose="020B0604020202020204" charset="0"/>
              </a:rPr>
              <a:t> </a:t>
            </a:r>
            <a:r>
              <a:rPr lang="en-US" sz="3500" dirty="0" err="1" smtClean="0">
                <a:latin typeface="Cabin" panose="020B0604020202020204" charset="0"/>
              </a:rPr>
              <a:t>dẫn</a:t>
            </a:r>
            <a:r>
              <a:rPr lang="en-US" sz="3500" dirty="0" smtClean="0">
                <a:latin typeface="Cabin" panose="020B0604020202020204" charset="0"/>
              </a:rPr>
              <a:t>:</a:t>
            </a:r>
          </a:p>
          <a:p>
            <a:r>
              <a:rPr lang="en-US" sz="3500" dirty="0" err="1" smtClean="0">
                <a:latin typeface="Cabin" panose="020B0604020202020204" charset="0"/>
              </a:rPr>
              <a:t>Ths</a:t>
            </a:r>
            <a:r>
              <a:rPr lang="en-US" sz="3500" dirty="0" smtClean="0">
                <a:latin typeface="Cabin" panose="020B0604020202020204" charset="0"/>
              </a:rPr>
              <a:t>. </a:t>
            </a:r>
            <a:r>
              <a:rPr lang="en-US" sz="3500" dirty="0" err="1" smtClean="0">
                <a:latin typeface="Cabin" panose="020B0604020202020204" charset="0"/>
              </a:rPr>
              <a:t>Nguyễn</a:t>
            </a:r>
            <a:r>
              <a:rPr lang="en-US" sz="3500" dirty="0" smtClean="0">
                <a:latin typeface="Cabin" panose="020B0604020202020204" charset="0"/>
              </a:rPr>
              <a:t> </a:t>
            </a:r>
            <a:r>
              <a:rPr lang="en-US" sz="3500" dirty="0" err="1" smtClean="0">
                <a:latin typeface="Cabin" panose="020B0604020202020204" charset="0"/>
              </a:rPr>
              <a:t>Mộng</a:t>
            </a:r>
            <a:r>
              <a:rPr lang="en-US" sz="3500" dirty="0" smtClean="0">
                <a:latin typeface="Cabin" panose="020B0604020202020204" charset="0"/>
              </a:rPr>
              <a:t> </a:t>
            </a:r>
            <a:r>
              <a:rPr lang="en-US" sz="3500" dirty="0" err="1" smtClean="0">
                <a:latin typeface="Cabin" panose="020B0604020202020204" charset="0"/>
              </a:rPr>
              <a:t>Hiền</a:t>
            </a:r>
            <a:endParaRPr lang="en-US" sz="3500" dirty="0">
              <a:latin typeface="Cabin" panose="020B0604020202020204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430000" y="6814232"/>
            <a:ext cx="59436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500" dirty="0" err="1">
                <a:solidFill>
                  <a:srgbClr val="000000"/>
                </a:solidFill>
                <a:latin typeface="Cabin" panose="020B0604020202020204" charset="0"/>
              </a:rPr>
              <a:t>Sinh</a:t>
            </a:r>
            <a:r>
              <a:rPr lang="en-US" sz="3500" dirty="0">
                <a:solidFill>
                  <a:srgbClr val="000000"/>
                </a:solidFill>
                <a:latin typeface="Cabin" panose="020B060402020202020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Cabin" panose="020B0604020202020204" charset="0"/>
              </a:rPr>
              <a:t>viên</a:t>
            </a:r>
            <a:r>
              <a:rPr lang="en-US" sz="3500" dirty="0">
                <a:solidFill>
                  <a:srgbClr val="000000"/>
                </a:solidFill>
                <a:latin typeface="Cabin" panose="020B060402020202020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Cabin" panose="020B0604020202020204" charset="0"/>
              </a:rPr>
              <a:t>thực</a:t>
            </a:r>
            <a:r>
              <a:rPr lang="en-US" sz="3500" dirty="0">
                <a:solidFill>
                  <a:srgbClr val="000000"/>
                </a:solidFill>
                <a:latin typeface="Cabin" panose="020B0604020202020204" charset="0"/>
              </a:rPr>
              <a:t> </a:t>
            </a:r>
            <a:r>
              <a:rPr lang="en-US" sz="3500" dirty="0" err="1">
                <a:solidFill>
                  <a:srgbClr val="000000"/>
                </a:solidFill>
                <a:latin typeface="Cabin" panose="020B0604020202020204" charset="0"/>
              </a:rPr>
              <a:t>hiện</a:t>
            </a:r>
            <a:r>
              <a:rPr lang="en-US" sz="3500" dirty="0">
                <a:solidFill>
                  <a:srgbClr val="000000"/>
                </a:solidFill>
                <a:latin typeface="Cabin" panose="020B0604020202020204" charset="0"/>
              </a:rPr>
              <a:t>:</a:t>
            </a:r>
          </a:p>
          <a:p>
            <a:pPr>
              <a:spcBef>
                <a:spcPct val="0"/>
              </a:spcBef>
            </a:pPr>
            <a:r>
              <a:rPr lang="en-US" sz="3500" dirty="0" err="1" smtClean="0">
                <a:solidFill>
                  <a:srgbClr val="000000"/>
                </a:solidFill>
                <a:latin typeface="Cabin" panose="020B0604020202020204" charset="0"/>
              </a:rPr>
              <a:t>Họ</a:t>
            </a: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 </a:t>
            </a:r>
            <a:r>
              <a:rPr lang="en-US" sz="3500" dirty="0" err="1" smtClean="0">
                <a:solidFill>
                  <a:srgbClr val="000000"/>
                </a:solidFill>
                <a:latin typeface="Cabin" panose="020B0604020202020204" charset="0"/>
              </a:rPr>
              <a:t>tên</a:t>
            </a: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: </a:t>
            </a:r>
            <a:r>
              <a:rPr lang="en-US" sz="3500" dirty="0" err="1" smtClean="0">
                <a:solidFill>
                  <a:srgbClr val="000000"/>
                </a:solidFill>
                <a:latin typeface="Cabin" panose="020B0604020202020204" charset="0"/>
              </a:rPr>
              <a:t>Nguyễn</a:t>
            </a: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 </a:t>
            </a:r>
            <a:r>
              <a:rPr lang="en-US" sz="3500" dirty="0" err="1" smtClean="0">
                <a:solidFill>
                  <a:srgbClr val="000000"/>
                </a:solidFill>
                <a:latin typeface="Cabin" panose="020B0604020202020204" charset="0"/>
              </a:rPr>
              <a:t>Thiện</a:t>
            </a: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 </a:t>
            </a:r>
            <a:r>
              <a:rPr lang="en-US" sz="3500" dirty="0" err="1" smtClean="0">
                <a:solidFill>
                  <a:srgbClr val="000000"/>
                </a:solidFill>
                <a:latin typeface="Cabin" panose="020B0604020202020204" charset="0"/>
              </a:rPr>
              <a:t>Nhân</a:t>
            </a:r>
            <a:endParaRPr lang="en-US" sz="3500" dirty="0" smtClean="0">
              <a:solidFill>
                <a:srgbClr val="000000"/>
              </a:solidFill>
              <a:latin typeface="Cabin" panose="020B0604020202020204" charset="0"/>
            </a:endParaRPr>
          </a:p>
          <a:p>
            <a:pPr>
              <a:spcBef>
                <a:spcPct val="0"/>
              </a:spcBef>
            </a:pP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MSSV</a:t>
            </a:r>
            <a:r>
              <a:rPr lang="en-US" sz="3500" dirty="0">
                <a:solidFill>
                  <a:srgbClr val="000000"/>
                </a:solidFill>
                <a:latin typeface="Cabin" panose="020B0604020202020204" charset="0"/>
              </a:rPr>
              <a:t>: </a:t>
            </a: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110121069</a:t>
            </a:r>
          </a:p>
          <a:p>
            <a:pPr>
              <a:spcBef>
                <a:spcPct val="0"/>
              </a:spcBef>
            </a:pPr>
            <a:r>
              <a:rPr lang="en-US" sz="3500" dirty="0" err="1" smtClean="0">
                <a:solidFill>
                  <a:srgbClr val="000000"/>
                </a:solidFill>
                <a:latin typeface="Cabin" panose="020B0604020202020204" charset="0"/>
              </a:rPr>
              <a:t>Lớp</a:t>
            </a:r>
            <a:r>
              <a:rPr lang="en-US" sz="3500" dirty="0">
                <a:solidFill>
                  <a:srgbClr val="000000"/>
                </a:solidFill>
                <a:latin typeface="Cabin" panose="020B0604020202020204" charset="0"/>
              </a:rPr>
              <a:t>: </a:t>
            </a:r>
            <a:r>
              <a:rPr lang="en-US" sz="3500" dirty="0" smtClean="0">
                <a:solidFill>
                  <a:srgbClr val="000000"/>
                </a:solidFill>
                <a:latin typeface="Cabin" panose="020B0604020202020204" charset="0"/>
              </a:rPr>
              <a:t>DA21TTA</a:t>
            </a:r>
            <a:endParaRPr lang="en-US" sz="3500" dirty="0">
              <a:solidFill>
                <a:srgbClr val="000000"/>
              </a:solidFill>
              <a:latin typeface="Cabin" panose="020B0604020202020204" charset="0"/>
            </a:endParaRP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219294" y="2910273"/>
            <a:ext cx="15795020" cy="6745738"/>
            <a:chOff x="0" y="0"/>
            <a:chExt cx="5762066" cy="2460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2460863"/>
            </a:xfrm>
            <a:custGeom>
              <a:avLst/>
              <a:gdLst/>
              <a:ahLst/>
              <a:cxnLst/>
              <a:rect l="l" t="t" r="r" b="b"/>
              <a:pathLst>
                <a:path w="5762066" h="2460863">
                  <a:moveTo>
                    <a:pt x="0" y="0"/>
                  </a:moveTo>
                  <a:lnTo>
                    <a:pt x="5762066" y="0"/>
                  </a:lnTo>
                  <a:lnTo>
                    <a:pt x="576206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9294" y="657204"/>
            <a:ext cx="15795020" cy="1907038"/>
            <a:chOff x="0" y="0"/>
            <a:chExt cx="5762066" cy="69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AutoShape 8"/>
          <p:cNvSpPr/>
          <p:nvPr/>
        </p:nvSpPr>
        <p:spPr>
          <a:xfrm rot="-5400000">
            <a:off x="311127" y="6283142"/>
            <a:ext cx="6745738" cy="0"/>
          </a:xfrm>
          <a:prstGeom prst="line">
            <a:avLst/>
          </a:prstGeom>
          <a:ln w="19050" cap="flat">
            <a:solidFill>
              <a:srgbClr val="CCCCCC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1" name="Group 11"/>
          <p:cNvGrpSpPr/>
          <p:nvPr/>
        </p:nvGrpSpPr>
        <p:grpSpPr>
          <a:xfrm>
            <a:off x="13821430" y="6055702"/>
            <a:ext cx="4791997" cy="4775719"/>
            <a:chOff x="0" y="0"/>
            <a:chExt cx="6389330" cy="6367625"/>
          </a:xfrm>
        </p:grpSpPr>
        <p:sp>
          <p:nvSpPr>
            <p:cNvPr id="12" name="Freeform 12"/>
            <p:cNvSpPr/>
            <p:nvPr/>
          </p:nvSpPr>
          <p:spPr>
            <a:xfrm>
              <a:off x="0" y="338421"/>
              <a:ext cx="6389330" cy="6029204"/>
            </a:xfrm>
            <a:custGeom>
              <a:avLst/>
              <a:gdLst/>
              <a:ahLst/>
              <a:cxnLst/>
              <a:rect l="l" t="t" r="r" b="b"/>
              <a:pathLst>
                <a:path w="6389330" h="6029204">
                  <a:moveTo>
                    <a:pt x="0" y="0"/>
                  </a:moveTo>
                  <a:lnTo>
                    <a:pt x="6389330" y="0"/>
                  </a:lnTo>
                  <a:lnTo>
                    <a:pt x="6389330" y="6029204"/>
                  </a:lnTo>
                  <a:lnTo>
                    <a:pt x="0" y="6029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 rot="-203414">
              <a:off x="1228888" y="24588"/>
              <a:ext cx="868401" cy="1245020"/>
            </a:xfrm>
            <a:custGeom>
              <a:avLst/>
              <a:gdLst/>
              <a:ahLst/>
              <a:cxnLst/>
              <a:rect l="l" t="t" r="r" b="b"/>
              <a:pathLst>
                <a:path w="868401" h="1245020">
                  <a:moveTo>
                    <a:pt x="0" y="0"/>
                  </a:moveTo>
                  <a:lnTo>
                    <a:pt x="868401" y="0"/>
                  </a:lnTo>
                  <a:lnTo>
                    <a:pt x="868401" y="1245019"/>
                  </a:lnTo>
                  <a:lnTo>
                    <a:pt x="0" y="1245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3683996" y="924916"/>
            <a:ext cx="1083971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Nội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dung</a:t>
            </a:r>
            <a:endParaRPr lang="en-US" sz="9000" b="1" dirty="0">
              <a:solidFill>
                <a:srgbClr val="003EA8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4846095" y="3480635"/>
            <a:ext cx="4959545" cy="5089834"/>
            <a:chOff x="-17329" y="46686"/>
            <a:chExt cx="5454392" cy="4809142"/>
          </a:xfrm>
        </p:grpSpPr>
        <p:sp>
          <p:nvSpPr>
            <p:cNvPr id="22" name="TextBox 22"/>
            <p:cNvSpPr txBox="1"/>
            <p:nvPr/>
          </p:nvSpPr>
          <p:spPr>
            <a:xfrm>
              <a:off x="-3992" y="1473734"/>
              <a:ext cx="5441055" cy="7769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Kết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quả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nghiên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9" action="ppaction://hlinksldjump"/>
                </a:rPr>
                <a:t>cứu</a:t>
              </a:r>
              <a:endParaRPr lang="en-US" sz="400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  <a:hlinkClick r:id="rId9" action="ppaction://hlinksldjump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-17329" y="2921702"/>
              <a:ext cx="5441054" cy="401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0" action="ppaction://hlinksldjump"/>
                </a:rPr>
                <a:t>Kết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0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0" action="ppaction://hlinksldjump"/>
                </a:rPr>
                <a:t>luận</a:t>
              </a:r>
              <a:endParaRPr lang="en-US" sz="400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  <a:hlinkClick r:id="rId10" action="ppaction://hlinksldjump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-17329" y="4454458"/>
              <a:ext cx="5441055" cy="401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1" action="ppaction://hlinksldjump"/>
                </a:rPr>
                <a:t>Hướng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1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1" action="ppaction://hlinksldjump"/>
                </a:rPr>
                <a:t>phát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1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1" action="ppaction://hlinksldjump"/>
                </a:rPr>
                <a:t>triển</a:t>
              </a:r>
              <a:endParaRPr lang="en-US" sz="400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  <a:hlinkClick r:id="rId11" action="ppaction://hlinksldjump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-3992" y="46686"/>
              <a:ext cx="5441055" cy="4013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Tổng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quan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đề</a:t>
              </a:r>
              <a:r>
                <a:rPr lang="en-US" sz="4000" dirty="0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 </a:t>
              </a:r>
              <a:r>
                <a:rPr lang="en-US" sz="4000" dirty="0" err="1" smtClean="0">
                  <a:solidFill>
                    <a:srgbClr val="000000"/>
                  </a:solidFill>
                  <a:latin typeface="Cabin"/>
                  <a:ea typeface="Cabin"/>
                  <a:cs typeface="Cabin"/>
                  <a:sym typeface="Cabin"/>
                  <a:hlinkClick r:id="rId12" action="ppaction://hlinksldjump"/>
                </a:rPr>
                <a:t>tài</a:t>
              </a:r>
              <a:endParaRPr lang="en-US" sz="4000" dirty="0">
                <a:solidFill>
                  <a:srgbClr val="000000"/>
                </a:solidFill>
                <a:latin typeface="Cabin"/>
                <a:ea typeface="Cabin"/>
                <a:cs typeface="Cabin"/>
                <a:sym typeface="Cabin"/>
                <a:hlinkClick r:id="rId12" action="ppaction://hlinksldjump"/>
              </a:endParaRP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2023147" y="3218570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1.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029996" y="4676953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2.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023145" y="6227707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3.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023144" y="7915465"/>
            <a:ext cx="766091" cy="828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599"/>
              </a:lnSpc>
              <a:spcBef>
                <a:spcPct val="0"/>
              </a:spcBef>
            </a:pPr>
            <a:r>
              <a:rPr lang="en-US" sz="5499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4.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910273"/>
            <a:ext cx="18288000" cy="7376727"/>
            <a:chOff x="0" y="0"/>
            <a:chExt cx="5762066" cy="2460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2460863"/>
            </a:xfrm>
            <a:custGeom>
              <a:avLst/>
              <a:gdLst/>
              <a:ahLst/>
              <a:cxnLst/>
              <a:rect l="l" t="t" r="r" b="b"/>
              <a:pathLst>
                <a:path w="5762066" h="2460863">
                  <a:moveTo>
                    <a:pt x="0" y="0"/>
                  </a:moveTo>
                  <a:lnTo>
                    <a:pt x="5762066" y="0"/>
                  </a:lnTo>
                  <a:lnTo>
                    <a:pt x="576206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9294" y="657204"/>
            <a:ext cx="15795020" cy="1907038"/>
            <a:chOff x="0" y="0"/>
            <a:chExt cx="5762066" cy="69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83996" y="924916"/>
            <a:ext cx="1083971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1.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Tổng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quan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đề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tài</a:t>
            </a:r>
            <a:endParaRPr kumimoji="0" lang="en-US" sz="9000" b="1" i="0" u="none" strike="noStrike" kern="1200" cap="none" spc="0" normalizeH="0" baseline="0" noProof="0" dirty="0">
              <a:ln>
                <a:noFill/>
              </a:ln>
              <a:solidFill>
                <a:srgbClr val="003EA8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019300" y="3314700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>
                <a:latin typeface="Cabin" panose="020B0604020202020204" charset="0"/>
              </a:rPr>
              <a:t>Lý</a:t>
            </a:r>
            <a:r>
              <a:rPr lang="en-US" sz="4000" dirty="0" smtClean="0">
                <a:latin typeface="Cabin" panose="020B0604020202020204" charset="0"/>
              </a:rPr>
              <a:t> do </a:t>
            </a:r>
            <a:r>
              <a:rPr lang="en-US" sz="4000" dirty="0" err="1" smtClean="0">
                <a:latin typeface="Cabin" panose="020B0604020202020204" charset="0"/>
              </a:rPr>
              <a:t>chọn</a:t>
            </a:r>
            <a:r>
              <a:rPr lang="en-US" sz="4000" dirty="0" smtClean="0">
                <a:latin typeface="Cabin" panose="020B0604020202020204" charset="0"/>
              </a:rPr>
              <a:t> </a:t>
            </a:r>
            <a:r>
              <a:rPr lang="en-US" sz="4000" dirty="0" err="1" smtClean="0">
                <a:latin typeface="Cabin" panose="020B0604020202020204" charset="0"/>
              </a:rPr>
              <a:t>đề</a:t>
            </a:r>
            <a:r>
              <a:rPr lang="en-US" sz="4000" dirty="0" smtClean="0">
                <a:latin typeface="Cabin" panose="020B0604020202020204" charset="0"/>
              </a:rPr>
              <a:t> </a:t>
            </a:r>
            <a:r>
              <a:rPr lang="en-US" sz="4000" dirty="0" err="1" smtClean="0">
                <a:latin typeface="Cabin" panose="020B0604020202020204" charset="0"/>
              </a:rPr>
              <a:t>tài</a:t>
            </a:r>
            <a:r>
              <a:rPr lang="en-US" sz="4000" dirty="0" smtClean="0"/>
              <a:t>:</a:t>
            </a:r>
            <a:endParaRPr lang="en-US" sz="4000" dirty="0"/>
          </a:p>
        </p:txBody>
      </p:sp>
      <p:sp>
        <p:nvSpPr>
          <p:cNvPr id="10" name="TextBox 9"/>
          <p:cNvSpPr txBox="1"/>
          <p:nvPr/>
        </p:nvSpPr>
        <p:spPr>
          <a:xfrm>
            <a:off x="1143000" y="4427013"/>
            <a:ext cx="60198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/>
              <a:t>Ứ</a:t>
            </a:r>
            <a:r>
              <a:rPr lang="en-US" sz="3600" dirty="0" err="1" smtClean="0"/>
              <a:t>ng</a:t>
            </a:r>
            <a:r>
              <a:rPr lang="en-US" sz="3600" dirty="0" smtClean="0"/>
              <a:t> </a:t>
            </a:r>
            <a:r>
              <a:rPr lang="en-US" sz="3600" dirty="0" err="1"/>
              <a:t>dụng</a:t>
            </a:r>
            <a:r>
              <a:rPr lang="en-US" sz="3600" dirty="0"/>
              <a:t> </a:t>
            </a:r>
            <a:r>
              <a:rPr lang="en-US" sz="3600" dirty="0" err="1"/>
              <a:t>chúng</a:t>
            </a:r>
            <a:r>
              <a:rPr lang="en-US" sz="3600" dirty="0"/>
              <a:t> </a:t>
            </a:r>
            <a:r>
              <a:rPr lang="en-US" sz="3600" dirty="0" err="1"/>
              <a:t>vào</a:t>
            </a:r>
            <a:r>
              <a:rPr lang="en-US" sz="3600" dirty="0"/>
              <a:t> </a:t>
            </a:r>
            <a:r>
              <a:rPr lang="en-US" sz="3600" dirty="0" err="1"/>
              <a:t>trong</a:t>
            </a:r>
            <a:r>
              <a:rPr lang="en-US" sz="3600" dirty="0"/>
              <a:t> y </a:t>
            </a:r>
            <a:r>
              <a:rPr lang="en-US" sz="3600" dirty="0" err="1"/>
              <a:t>học</a:t>
            </a:r>
            <a:r>
              <a:rPr lang="en-US" sz="3600" dirty="0"/>
              <a:t> </a:t>
            </a:r>
            <a:r>
              <a:rPr lang="en-US" sz="3600" dirty="0" err="1"/>
              <a:t>để</a:t>
            </a:r>
            <a:r>
              <a:rPr lang="en-US" sz="3600" dirty="0"/>
              <a:t> </a:t>
            </a:r>
            <a:r>
              <a:rPr lang="en-US" sz="3600" dirty="0" err="1"/>
              <a:t>có</a:t>
            </a:r>
            <a:r>
              <a:rPr lang="en-US" sz="3600" dirty="0"/>
              <a:t> </a:t>
            </a:r>
            <a:r>
              <a:rPr lang="en-US" sz="3600" dirty="0" err="1"/>
              <a:t>thể</a:t>
            </a:r>
            <a:r>
              <a:rPr lang="en-US" sz="3600" dirty="0"/>
              <a:t> </a:t>
            </a:r>
            <a:r>
              <a:rPr lang="en-US" sz="3600" dirty="0" err="1"/>
              <a:t>phân</a:t>
            </a:r>
            <a:r>
              <a:rPr lang="en-US" sz="3600" dirty="0"/>
              <a:t> </a:t>
            </a:r>
            <a:r>
              <a:rPr lang="en-US" sz="3600" dirty="0" err="1"/>
              <a:t>tích</a:t>
            </a:r>
            <a:r>
              <a:rPr lang="en-US" sz="3600" dirty="0"/>
              <a:t>, </a:t>
            </a:r>
            <a:r>
              <a:rPr lang="en-US" sz="3600" dirty="0" err="1"/>
              <a:t>phát</a:t>
            </a:r>
            <a:r>
              <a:rPr lang="en-US" sz="3600" dirty="0"/>
              <a:t> </a:t>
            </a:r>
            <a:r>
              <a:rPr lang="en-US" sz="3600" dirty="0" err="1"/>
              <a:t>hiện</a:t>
            </a:r>
            <a:r>
              <a:rPr lang="en-US" sz="3600" dirty="0"/>
              <a:t> </a:t>
            </a:r>
            <a:r>
              <a:rPr lang="en-US" sz="3600" dirty="0" err="1"/>
              <a:t>bệnh</a:t>
            </a:r>
            <a:r>
              <a:rPr lang="en-US" sz="3600" dirty="0"/>
              <a:t> </a:t>
            </a:r>
            <a:r>
              <a:rPr lang="en-US" sz="3600" dirty="0" err="1"/>
              <a:t>sớm</a:t>
            </a:r>
            <a:r>
              <a:rPr lang="en-US" sz="3600" dirty="0"/>
              <a:t> </a:t>
            </a:r>
            <a:r>
              <a:rPr lang="en-US" sz="3600" dirty="0" err="1"/>
              <a:t>hơn</a:t>
            </a:r>
            <a:r>
              <a:rPr lang="en-US" sz="3600" dirty="0"/>
              <a:t> </a:t>
            </a:r>
            <a:r>
              <a:rPr lang="en-US" sz="3600" dirty="0" err="1"/>
              <a:t>và</a:t>
            </a:r>
            <a:r>
              <a:rPr lang="en-US" sz="3600" dirty="0"/>
              <a:t> </a:t>
            </a:r>
            <a:r>
              <a:rPr lang="en-US" sz="3600" dirty="0" err="1"/>
              <a:t>có</a:t>
            </a:r>
            <a:r>
              <a:rPr lang="en-US" sz="3600" dirty="0"/>
              <a:t> </a:t>
            </a:r>
            <a:r>
              <a:rPr lang="en-US" sz="3600" dirty="0" err="1"/>
              <a:t>thể</a:t>
            </a:r>
            <a:r>
              <a:rPr lang="en-US" sz="3600" dirty="0"/>
              <a:t> </a:t>
            </a:r>
            <a:r>
              <a:rPr lang="en-US" sz="3600" dirty="0" err="1"/>
              <a:t>điều</a:t>
            </a:r>
            <a:r>
              <a:rPr lang="en-US" sz="3600" dirty="0"/>
              <a:t> </a:t>
            </a:r>
            <a:r>
              <a:rPr lang="en-US" sz="3600" dirty="0" err="1"/>
              <a:t>trị</a:t>
            </a:r>
            <a:r>
              <a:rPr lang="en-US" sz="3600" dirty="0"/>
              <a:t> </a:t>
            </a:r>
            <a:r>
              <a:rPr lang="en-US" sz="3600" dirty="0" err="1"/>
              <a:t>hiệu</a:t>
            </a:r>
            <a:r>
              <a:rPr lang="en-US" sz="3600" dirty="0"/>
              <a:t> </a:t>
            </a:r>
            <a:r>
              <a:rPr lang="en-US" sz="3600" dirty="0" err="1"/>
              <a:t>quả</a:t>
            </a:r>
            <a:r>
              <a:rPr lang="en-US" sz="3600" dirty="0"/>
              <a:t> </a:t>
            </a:r>
            <a:r>
              <a:rPr lang="en-US" sz="3600" dirty="0" err="1"/>
              <a:t>hơn</a:t>
            </a:r>
            <a:r>
              <a:rPr lang="en-US" sz="3600" dirty="0"/>
              <a:t>. </a:t>
            </a:r>
            <a:endParaRPr lang="en-US" sz="3600" dirty="0" smtClean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 smtClean="0">
                <a:latin typeface="Cabin" panose="020B0604020202020204" charset="0"/>
              </a:rPr>
              <a:t>Giúp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cho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việc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phân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tích</a:t>
            </a:r>
            <a:r>
              <a:rPr lang="en-US" sz="3600" dirty="0" smtClean="0">
                <a:latin typeface="Cabin" panose="020B0604020202020204" charset="0"/>
              </a:rPr>
              <a:t>, </a:t>
            </a:r>
            <a:r>
              <a:rPr lang="en-US" sz="3600" dirty="0" err="1" smtClean="0">
                <a:latin typeface="Cabin" panose="020B0604020202020204" charset="0"/>
              </a:rPr>
              <a:t>chẩn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đoán</a:t>
            </a:r>
            <a:r>
              <a:rPr lang="en-US" sz="3600" dirty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có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độ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chính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xác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cao</a:t>
            </a:r>
            <a:r>
              <a:rPr lang="en-US" sz="3600" dirty="0" smtClean="0">
                <a:latin typeface="Cabin" panose="020B0604020202020204" charset="0"/>
              </a:rPr>
              <a:t>, </a:t>
            </a:r>
            <a:r>
              <a:rPr lang="en-US" sz="3600" dirty="0" err="1" smtClean="0">
                <a:latin typeface="Cabin" panose="020B0604020202020204" charset="0"/>
              </a:rPr>
              <a:t>thời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gian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ít</a:t>
            </a:r>
            <a:r>
              <a:rPr lang="en-US" sz="3600" dirty="0" smtClean="0">
                <a:latin typeface="Cabin" panose="020B0604020202020204" charset="0"/>
              </a:rPr>
              <a:t> </a:t>
            </a:r>
            <a:r>
              <a:rPr lang="en-US" sz="3600" dirty="0" err="1" smtClean="0">
                <a:latin typeface="Cabin" panose="020B0604020202020204" charset="0"/>
              </a:rPr>
              <a:t>hơn</a:t>
            </a:r>
            <a:r>
              <a:rPr lang="en-US" sz="3600" dirty="0" smtClean="0">
                <a:latin typeface="Cabin" panose="020B0604020202020204" charset="0"/>
              </a:rPr>
              <a:t>.</a:t>
            </a:r>
            <a:endParaRPr lang="en-US" sz="3600" dirty="0">
              <a:latin typeface="Cabin" panose="020B0604020202020204" charset="0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8763000" y="2910272"/>
            <a:ext cx="0" cy="737672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734800" y="3314700"/>
            <a:ext cx="2133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>
                <a:latin typeface="Cabin" panose="020B0604020202020204" charset="0"/>
              </a:rPr>
              <a:t>Mục</a:t>
            </a:r>
            <a:r>
              <a:rPr lang="en-US" sz="4000" dirty="0" smtClean="0">
                <a:latin typeface="Cabin" panose="020B0604020202020204" charset="0"/>
              </a:rPr>
              <a:t> </a:t>
            </a:r>
            <a:r>
              <a:rPr lang="en-US" sz="4000" dirty="0" err="1" smtClean="0">
                <a:latin typeface="Cabin" panose="020B0604020202020204" charset="0"/>
              </a:rPr>
              <a:t>tiêu</a:t>
            </a:r>
            <a:r>
              <a:rPr lang="en-US" sz="4000" dirty="0" smtClean="0">
                <a:latin typeface="Cabin" panose="020B0604020202020204" charset="0"/>
              </a:rPr>
              <a:t>:</a:t>
            </a:r>
            <a:endParaRPr lang="en-US" sz="4000" dirty="0">
              <a:latin typeface="Cabin" panose="020B0604020202020204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4427013"/>
            <a:ext cx="65532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 smtClean="0"/>
              <a:t>Xây</a:t>
            </a:r>
            <a:r>
              <a:rPr lang="en-US" sz="3600" dirty="0" smtClean="0"/>
              <a:t> </a:t>
            </a:r>
            <a:r>
              <a:rPr lang="en-US" sz="3600" dirty="0" err="1" smtClean="0"/>
              <a:t>dựng</a:t>
            </a:r>
            <a:r>
              <a:rPr lang="en-US" sz="3600" dirty="0" smtClean="0"/>
              <a:t> </a:t>
            </a:r>
            <a:r>
              <a:rPr lang="en-US" sz="3600" dirty="0" err="1" smtClean="0"/>
              <a:t>mô</a:t>
            </a:r>
            <a:r>
              <a:rPr lang="en-US" sz="3600" dirty="0" smtClean="0"/>
              <a:t> </a:t>
            </a:r>
            <a:r>
              <a:rPr lang="en-US" sz="3600" dirty="0" err="1" smtClean="0"/>
              <a:t>hình</a:t>
            </a:r>
            <a:r>
              <a:rPr lang="en-US" sz="3600" dirty="0" smtClean="0"/>
              <a:t> CNN </a:t>
            </a:r>
            <a:r>
              <a:rPr lang="en-US" sz="3600" dirty="0" err="1" smtClean="0"/>
              <a:t>chuẩn</a:t>
            </a:r>
            <a:r>
              <a:rPr lang="en-US" sz="3600" dirty="0" smtClean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 smtClean="0"/>
              <a:t>Xây</a:t>
            </a:r>
            <a:r>
              <a:rPr lang="en-US" sz="3600" dirty="0" smtClean="0"/>
              <a:t> </a:t>
            </a:r>
            <a:r>
              <a:rPr lang="en-US" sz="3600" dirty="0" err="1" smtClean="0"/>
              <a:t>dựng</a:t>
            </a:r>
            <a:r>
              <a:rPr lang="en-US" sz="3600" dirty="0" smtClean="0"/>
              <a:t> </a:t>
            </a:r>
            <a:r>
              <a:rPr lang="en-US" sz="3600" dirty="0" err="1" smtClean="0"/>
              <a:t>mô</a:t>
            </a:r>
            <a:r>
              <a:rPr lang="en-US" sz="3600" dirty="0" smtClean="0"/>
              <a:t> </a:t>
            </a:r>
            <a:r>
              <a:rPr lang="en-US" sz="3600" dirty="0" err="1" smtClean="0"/>
              <a:t>hình</a:t>
            </a:r>
            <a:r>
              <a:rPr lang="en-US" sz="3600" dirty="0" smtClean="0"/>
              <a:t> CNN </a:t>
            </a:r>
            <a:r>
              <a:rPr lang="en-US" sz="3600" dirty="0" err="1" smtClean="0"/>
              <a:t>cải</a:t>
            </a:r>
            <a:r>
              <a:rPr lang="en-US" sz="3600" dirty="0" smtClean="0"/>
              <a:t> </a:t>
            </a:r>
            <a:r>
              <a:rPr lang="en-US" sz="3600" dirty="0" err="1" smtClean="0"/>
              <a:t>tiến</a:t>
            </a:r>
            <a:r>
              <a:rPr lang="en-US" sz="3600" dirty="0" smtClean="0"/>
              <a:t> </a:t>
            </a:r>
            <a:r>
              <a:rPr lang="en-US" sz="3600" dirty="0" err="1" smtClean="0"/>
              <a:t>tăng</a:t>
            </a:r>
            <a:r>
              <a:rPr lang="en-US" sz="3600" dirty="0" smtClean="0"/>
              <a:t> </a:t>
            </a:r>
            <a:r>
              <a:rPr lang="en-US" sz="3600" dirty="0" err="1" smtClean="0"/>
              <a:t>độ</a:t>
            </a:r>
            <a:r>
              <a:rPr lang="en-US" sz="3600" dirty="0" smtClean="0"/>
              <a:t> </a:t>
            </a:r>
            <a:r>
              <a:rPr lang="en-US" sz="3600" dirty="0" err="1" smtClean="0"/>
              <a:t>chính</a:t>
            </a:r>
            <a:r>
              <a:rPr lang="en-US" sz="3600" dirty="0" smtClean="0"/>
              <a:t> </a:t>
            </a:r>
            <a:r>
              <a:rPr lang="en-US" sz="3600" dirty="0" err="1" smtClean="0"/>
              <a:t>xác</a:t>
            </a:r>
            <a:r>
              <a:rPr lang="en-US" sz="3600" dirty="0" smtClean="0"/>
              <a:t> </a:t>
            </a:r>
            <a:r>
              <a:rPr lang="en-US" sz="3600" dirty="0" err="1" smtClean="0"/>
              <a:t>trong</a:t>
            </a:r>
            <a:r>
              <a:rPr lang="en-US" sz="3600" dirty="0" smtClean="0"/>
              <a:t> </a:t>
            </a:r>
            <a:r>
              <a:rPr lang="en-US" sz="3600" dirty="0" err="1" smtClean="0"/>
              <a:t>việc</a:t>
            </a:r>
            <a:r>
              <a:rPr lang="en-US" sz="3600" dirty="0" smtClean="0"/>
              <a:t> </a:t>
            </a:r>
            <a:r>
              <a:rPr lang="en-US" sz="3600" dirty="0" err="1" smtClean="0"/>
              <a:t>phân</a:t>
            </a:r>
            <a:r>
              <a:rPr lang="en-US" sz="3600" dirty="0" smtClean="0"/>
              <a:t> </a:t>
            </a:r>
            <a:r>
              <a:rPr lang="en-US" sz="3600" dirty="0" err="1" smtClean="0"/>
              <a:t>tích</a:t>
            </a:r>
            <a:r>
              <a:rPr lang="en-US" sz="3600" dirty="0" smtClean="0"/>
              <a:t>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91161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915716"/>
            <a:ext cx="18288000" cy="7376727"/>
            <a:chOff x="0" y="0"/>
            <a:chExt cx="5762066" cy="2460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2460863"/>
            </a:xfrm>
            <a:custGeom>
              <a:avLst/>
              <a:gdLst/>
              <a:ahLst/>
              <a:cxnLst/>
              <a:rect l="l" t="t" r="r" b="b"/>
              <a:pathLst>
                <a:path w="5762066" h="2460863">
                  <a:moveTo>
                    <a:pt x="0" y="0"/>
                  </a:moveTo>
                  <a:lnTo>
                    <a:pt x="5762066" y="0"/>
                  </a:lnTo>
                  <a:lnTo>
                    <a:pt x="576206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8"/>
          <p:cNvSpPr txBox="1"/>
          <p:nvPr/>
        </p:nvSpPr>
        <p:spPr>
          <a:xfrm>
            <a:off x="1333500" y="3365184"/>
            <a:ext cx="58293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Phương</a:t>
            </a:r>
            <a:r>
              <a:rPr lang="en-US" sz="40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pháp</a:t>
            </a:r>
            <a:r>
              <a:rPr lang="en-US" sz="40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nghiên</a:t>
            </a:r>
            <a:r>
              <a:rPr lang="en-US" sz="40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cứu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: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/>
              <a:ea typeface="+mn-ea"/>
              <a:cs typeface="+mn-cs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8763000" y="2910272"/>
            <a:ext cx="0" cy="7376727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1734800" y="3314700"/>
            <a:ext cx="3581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Phạm</a:t>
            </a:r>
            <a:r>
              <a:rPr lang="en-US" sz="4000" dirty="0" smtClean="0">
                <a:solidFill>
                  <a:prstClr val="black"/>
                </a:solidFill>
                <a:latin typeface="Cabin" panose="020B0604020202020204" charset="0"/>
              </a:rPr>
              <a:t> vi </a:t>
            </a: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đề</a:t>
            </a:r>
            <a:r>
              <a:rPr lang="en-US" sz="40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4000" dirty="0" err="1" smtClean="0">
                <a:solidFill>
                  <a:prstClr val="black"/>
                </a:solidFill>
                <a:latin typeface="Cabin" panose="020B0604020202020204" charset="0"/>
              </a:rPr>
              <a:t>tài</a:t>
            </a: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: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 panose="020B0604020202020204" charset="0"/>
              <a:ea typeface="+mn-ea"/>
              <a:cs typeface="+mn-c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236584" y="4563642"/>
            <a:ext cx="76200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baseline="0" dirty="0" err="1" smtClean="0">
                <a:solidFill>
                  <a:prstClr val="black"/>
                </a:solidFill>
                <a:latin typeface="Cabin"/>
              </a:rPr>
              <a:t>Không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/>
              </a:rPr>
              <a:t>gian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: </a:t>
            </a:r>
            <a:r>
              <a:rPr lang="en-US" sz="3600" dirty="0" err="1" smtClean="0">
                <a:solidFill>
                  <a:prstClr val="black"/>
                </a:solidFill>
                <a:latin typeface="Cabin"/>
              </a:rPr>
              <a:t>Trường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/>
              </a:rPr>
              <a:t>Đại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/>
              </a:rPr>
              <a:t>học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/>
              </a:rPr>
              <a:t>Trà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/>
              </a:rPr>
              <a:t>Vinh</a:t>
            </a:r>
            <a:r>
              <a:rPr lang="en-US" sz="3600" dirty="0" smtClean="0">
                <a:solidFill>
                  <a:prstClr val="black"/>
                </a:solidFill>
                <a:latin typeface="Cabin"/>
              </a:rPr>
              <a:t>.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Thời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gian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: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Học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kỳ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I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năm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205-2026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/>
              <a:ea typeface="+mn-ea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19293" y="4554415"/>
            <a:ext cx="56007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 err="1" smtClean="0"/>
              <a:t>Nghiên</a:t>
            </a:r>
            <a:r>
              <a:rPr lang="en-US" sz="3600" dirty="0" smtClean="0"/>
              <a:t> </a:t>
            </a:r>
            <a:r>
              <a:rPr lang="en-US" sz="3600" dirty="0" err="1" smtClean="0"/>
              <a:t>cứu</a:t>
            </a:r>
            <a:r>
              <a:rPr lang="en-US" sz="3600" dirty="0" smtClean="0"/>
              <a:t> </a:t>
            </a:r>
            <a:r>
              <a:rPr lang="en-US" sz="3600" dirty="0" err="1" smtClean="0"/>
              <a:t>lí</a:t>
            </a:r>
            <a:r>
              <a:rPr lang="en-US" sz="3600" dirty="0" smtClean="0"/>
              <a:t> </a:t>
            </a:r>
            <a:r>
              <a:rPr lang="en-US" sz="3600" dirty="0" err="1" smtClean="0"/>
              <a:t>thuyết</a:t>
            </a:r>
            <a:r>
              <a:rPr lang="en-US" sz="3600" dirty="0" smtClean="0"/>
              <a:t> </a:t>
            </a:r>
            <a:r>
              <a:rPr lang="en-US" sz="3600" dirty="0" err="1" smtClean="0"/>
              <a:t>về</a:t>
            </a:r>
            <a:r>
              <a:rPr lang="en-US" sz="3600" dirty="0" smtClean="0"/>
              <a:t> </a:t>
            </a:r>
            <a:r>
              <a:rPr lang="en-US" sz="3600" dirty="0" err="1" smtClean="0"/>
              <a:t>mô</a:t>
            </a:r>
            <a:r>
              <a:rPr lang="en-US" sz="3600" dirty="0" smtClean="0"/>
              <a:t> </a:t>
            </a:r>
            <a:r>
              <a:rPr lang="en-US" sz="3600" dirty="0" err="1" smtClean="0"/>
              <a:t>hình</a:t>
            </a:r>
            <a:r>
              <a:rPr lang="en-US" sz="3600" dirty="0" smtClean="0"/>
              <a:t> CNN, </a:t>
            </a:r>
            <a:r>
              <a:rPr lang="en-US" sz="3600" dirty="0" err="1" smtClean="0"/>
              <a:t>học</a:t>
            </a:r>
            <a:r>
              <a:rPr lang="en-US" sz="3600" dirty="0" smtClean="0"/>
              <a:t> </a:t>
            </a:r>
            <a:r>
              <a:rPr lang="en-US" sz="3600" dirty="0" err="1" smtClean="0"/>
              <a:t>máy</a:t>
            </a:r>
            <a:r>
              <a:rPr lang="en-US" sz="3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470102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9294" y="657204"/>
            <a:ext cx="15795020" cy="1907038"/>
            <a:chOff x="0" y="0"/>
            <a:chExt cx="5762066" cy="69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83996" y="924916"/>
            <a:ext cx="1083971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Phầ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n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mềm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hỗ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trợ</a:t>
            </a:r>
            <a:endParaRPr kumimoji="0" lang="en-US" sz="9000" b="1" i="0" u="none" strike="noStrike" kern="1200" cap="none" spc="0" normalizeH="0" baseline="0" noProof="0" dirty="0">
              <a:ln>
                <a:noFill/>
              </a:ln>
              <a:solidFill>
                <a:srgbClr val="003EA8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84454" y="3045587"/>
            <a:ext cx="5638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/>
              <a:t>Kaggle</a:t>
            </a:r>
            <a:endParaRPr lang="en-US" sz="4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3200" y="4686300"/>
            <a:ext cx="5553847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981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1219294" y="657204"/>
            <a:ext cx="15795020" cy="1907038"/>
            <a:chOff x="0" y="0"/>
            <a:chExt cx="5762066" cy="69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83996" y="924916"/>
            <a:ext cx="13330318" cy="13849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0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2</a:t>
            </a:r>
            <a:r>
              <a:rPr kumimoji="0" lang="en-US" sz="9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. </a:t>
            </a:r>
            <a:r>
              <a:rPr kumimoji="0" lang="en-US" sz="9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Kết</a:t>
            </a:r>
            <a:r>
              <a:rPr kumimoji="0" lang="en-US" sz="9000" b="1" i="0" u="none" strike="noStrike" kern="1200" cap="none" spc="0" normalizeH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kumimoji="0" lang="en-US" sz="9000" b="1" i="0" u="none" strike="noStrike" kern="1200" cap="none" spc="0" normalizeH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quả</a:t>
            </a:r>
            <a:r>
              <a:rPr kumimoji="0" lang="en-US" sz="9000" b="1" i="0" u="none" strike="noStrike" kern="1200" cap="none" spc="0" normalizeH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kumimoji="0" lang="en-US" sz="9000" b="1" i="0" u="none" strike="noStrike" kern="1200" cap="none" spc="0" normalizeH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nghiên</a:t>
            </a:r>
            <a:r>
              <a:rPr kumimoji="0" lang="en-US" sz="9000" b="1" i="0" u="none" strike="noStrike" kern="1200" cap="none" spc="0" normalizeH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kumimoji="0" lang="en-US" sz="9000" b="1" i="0" u="none" strike="noStrike" kern="1200" cap="none" spc="0" normalizeH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cứu</a:t>
            </a:r>
            <a:endParaRPr kumimoji="0" lang="en-US" sz="9000" b="1" i="0" u="none" strike="noStrike" kern="1200" cap="none" spc="0" normalizeH="0" baseline="0" noProof="0" dirty="0">
              <a:ln>
                <a:noFill/>
              </a:ln>
              <a:solidFill>
                <a:srgbClr val="003EA8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077873" y="3054733"/>
            <a:ext cx="4800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 err="1" smtClean="0"/>
              <a:t>Phân</a:t>
            </a:r>
            <a:r>
              <a:rPr lang="en-US" sz="4000" dirty="0" smtClean="0"/>
              <a:t> </a:t>
            </a:r>
            <a:r>
              <a:rPr lang="en-US" sz="4000" dirty="0" err="1" smtClean="0"/>
              <a:t>lớp</a:t>
            </a:r>
            <a:r>
              <a:rPr lang="en-US" sz="4000" dirty="0" smtClean="0"/>
              <a:t> </a:t>
            </a:r>
            <a:r>
              <a:rPr lang="en-US" sz="4000" dirty="0" err="1" smtClean="0"/>
              <a:t>ảnh</a:t>
            </a:r>
            <a:endParaRPr lang="en-US" dirty="0"/>
          </a:p>
        </p:txBody>
      </p:sp>
      <p:pic>
        <p:nvPicPr>
          <p:cNvPr id="11" name="Picture 10"/>
          <p:cNvPicPr/>
          <p:nvPr/>
        </p:nvPicPr>
        <p:blipFill>
          <a:blip r:embed="rId5"/>
          <a:stretch>
            <a:fillRect/>
          </a:stretch>
        </p:blipFill>
        <p:spPr>
          <a:xfrm>
            <a:off x="3581400" y="4076700"/>
            <a:ext cx="10820399" cy="509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027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4876800" y="348127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 smtClean="0">
                <a:solidFill>
                  <a:prstClr val="black"/>
                </a:solidFill>
                <a:latin typeface="Cabin"/>
              </a:rPr>
              <a:t>Ma </a:t>
            </a:r>
            <a:r>
              <a:rPr lang="en-US" sz="4000" dirty="0" err="1" smtClean="0">
                <a:solidFill>
                  <a:prstClr val="black"/>
                </a:solidFill>
                <a:latin typeface="Cabin"/>
              </a:rPr>
              <a:t>trận</a:t>
            </a:r>
            <a:r>
              <a:rPr lang="en-US" sz="40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4000" dirty="0" err="1" smtClean="0">
                <a:solidFill>
                  <a:prstClr val="black"/>
                </a:solidFill>
                <a:latin typeface="Cabin"/>
              </a:rPr>
              <a:t>nhầm</a:t>
            </a:r>
            <a:r>
              <a:rPr lang="en-US" sz="4000" dirty="0" smtClean="0">
                <a:solidFill>
                  <a:prstClr val="black"/>
                </a:solidFill>
                <a:latin typeface="Cabin"/>
              </a:rPr>
              <a:t> </a:t>
            </a:r>
            <a:r>
              <a:rPr lang="en-US" sz="4000" dirty="0" err="1" smtClean="0">
                <a:solidFill>
                  <a:prstClr val="black"/>
                </a:solidFill>
                <a:latin typeface="Cabin"/>
              </a:rPr>
              <a:t>lẫn</a:t>
            </a:r>
            <a:r>
              <a:rPr lang="en-US" sz="4000" dirty="0" smtClean="0">
                <a:solidFill>
                  <a:prstClr val="black"/>
                </a:solidFill>
                <a:latin typeface="Cabin"/>
              </a:rPr>
              <a:t> CNN </a:t>
            </a:r>
            <a:r>
              <a:rPr lang="en-US" sz="4000" dirty="0" err="1" smtClean="0">
                <a:solidFill>
                  <a:prstClr val="black"/>
                </a:solidFill>
                <a:latin typeface="Cabin"/>
              </a:rPr>
              <a:t>chuẩn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/>
              <a:ea typeface="+mn-ea"/>
              <a:cs typeface="+mn-cs"/>
            </a:endParaRPr>
          </a:p>
        </p:txBody>
      </p:sp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4191000" y="2112025"/>
            <a:ext cx="10896600" cy="727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67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5641567" y="865811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Báo</a:t>
            </a:r>
            <a:r>
              <a:rPr lang="en-US" sz="3600" dirty="0" smtClean="0"/>
              <a:t> </a:t>
            </a:r>
            <a:r>
              <a:rPr lang="en-US" sz="3600" dirty="0" err="1" smtClean="0"/>
              <a:t>cáo</a:t>
            </a:r>
            <a:r>
              <a:rPr lang="en-US" sz="3600" dirty="0" smtClean="0"/>
              <a:t> </a:t>
            </a:r>
            <a:r>
              <a:rPr lang="en-US" sz="3600" dirty="0" err="1" smtClean="0"/>
              <a:t>phân</a:t>
            </a:r>
            <a:r>
              <a:rPr lang="en-US" sz="3600" dirty="0" smtClean="0"/>
              <a:t> </a:t>
            </a:r>
            <a:r>
              <a:rPr lang="en-US" sz="3600" dirty="0" err="1" smtClean="0"/>
              <a:t>loại</a:t>
            </a:r>
            <a:r>
              <a:rPr lang="en-US" sz="3600" dirty="0" smtClean="0"/>
              <a:t> CNN </a:t>
            </a:r>
            <a:r>
              <a:rPr lang="en-US" sz="3600" dirty="0" err="1" smtClean="0"/>
              <a:t>chuẩn</a:t>
            </a:r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2961626"/>
            <a:ext cx="10535180" cy="4367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89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7"/>
          <p:cNvSpPr txBox="1"/>
          <p:nvPr/>
        </p:nvSpPr>
        <p:spPr>
          <a:xfrm>
            <a:off x="5422038" y="1027297"/>
            <a:ext cx="8001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Ma </a:t>
            </a: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trận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nhầm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lẫn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CNN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cải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/>
                <a:ea typeface="+mn-ea"/>
                <a:cs typeface="+mn-cs"/>
              </a:rPr>
              <a:t>tiến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/>
              <a:ea typeface="+mn-ea"/>
              <a:cs typeface="+mn-cs"/>
            </a:endParaRPr>
          </a:p>
        </p:txBody>
      </p:sp>
      <p:pic>
        <p:nvPicPr>
          <p:cNvPr id="10" name="Picture 9"/>
          <p:cNvPicPr/>
          <p:nvPr/>
        </p:nvPicPr>
        <p:blipFill>
          <a:blip r:embed="rId5"/>
          <a:stretch>
            <a:fillRect/>
          </a:stretch>
        </p:blipFill>
        <p:spPr>
          <a:xfrm>
            <a:off x="4152424" y="2180242"/>
            <a:ext cx="9983152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143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81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4"/>
          <p:cNvSpPr txBox="1"/>
          <p:nvPr/>
        </p:nvSpPr>
        <p:spPr>
          <a:xfrm>
            <a:off x="5641566" y="865811"/>
            <a:ext cx="7160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 smtClean="0"/>
              <a:t>Báo</a:t>
            </a:r>
            <a:r>
              <a:rPr lang="en-US" sz="3600" dirty="0" smtClean="0"/>
              <a:t> </a:t>
            </a:r>
            <a:r>
              <a:rPr lang="en-US" sz="3600" dirty="0" err="1" smtClean="0"/>
              <a:t>cáo</a:t>
            </a:r>
            <a:r>
              <a:rPr lang="en-US" sz="3600" dirty="0" smtClean="0"/>
              <a:t> </a:t>
            </a:r>
            <a:r>
              <a:rPr lang="en-US" sz="3600" dirty="0" err="1" smtClean="0"/>
              <a:t>phân</a:t>
            </a:r>
            <a:r>
              <a:rPr lang="en-US" sz="3600" dirty="0" smtClean="0"/>
              <a:t> </a:t>
            </a:r>
            <a:r>
              <a:rPr lang="en-US" sz="3600" dirty="0" err="1" smtClean="0"/>
              <a:t>loại</a:t>
            </a:r>
            <a:r>
              <a:rPr lang="en-US" sz="3600" dirty="0" smtClean="0"/>
              <a:t> CNN </a:t>
            </a:r>
            <a:r>
              <a:rPr lang="en-US" sz="3600" dirty="0" err="1" smtClean="0"/>
              <a:t>cải</a:t>
            </a:r>
            <a:r>
              <a:rPr lang="en-US" sz="3600" dirty="0" smtClean="0"/>
              <a:t> </a:t>
            </a:r>
            <a:r>
              <a:rPr lang="en-US" sz="3600" dirty="0" err="1" smtClean="0"/>
              <a:t>tiến</a:t>
            </a:r>
            <a:endParaRPr lang="en-US" sz="36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19400" y="2704447"/>
            <a:ext cx="12289811" cy="4881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698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910273"/>
            <a:ext cx="18288000" cy="7376727"/>
            <a:chOff x="0" y="0"/>
            <a:chExt cx="5762066" cy="2460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2460863"/>
            </a:xfrm>
            <a:custGeom>
              <a:avLst/>
              <a:gdLst/>
              <a:ahLst/>
              <a:cxnLst/>
              <a:rect l="l" t="t" r="r" b="b"/>
              <a:pathLst>
                <a:path w="5762066" h="2460863">
                  <a:moveTo>
                    <a:pt x="0" y="0"/>
                  </a:moveTo>
                  <a:lnTo>
                    <a:pt x="5762066" y="0"/>
                  </a:lnTo>
                  <a:lnTo>
                    <a:pt x="576206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9294" y="657204"/>
            <a:ext cx="15795020" cy="1907038"/>
            <a:chOff x="0" y="0"/>
            <a:chExt cx="5762066" cy="69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83996" y="924916"/>
            <a:ext cx="1083971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0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3</a:t>
            </a:r>
            <a:r>
              <a:rPr kumimoji="0" lang="en-US" sz="9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.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Kết</a:t>
            </a: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lang="en-US" sz="9000" b="1" dirty="0" err="1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luận</a:t>
            </a:r>
            <a:endParaRPr kumimoji="0" lang="en-US" sz="9000" b="1" i="0" u="none" strike="noStrike" kern="1200" cap="none" spc="0" normalizeH="0" baseline="0" noProof="0" dirty="0">
              <a:ln>
                <a:noFill/>
              </a:ln>
              <a:solidFill>
                <a:srgbClr val="003EA8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796712" y="3596065"/>
            <a:ext cx="4267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Kết</a:t>
            </a:r>
            <a:r>
              <a:rPr kumimoji="0" lang="en-US" sz="40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40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luận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6800" y="4747164"/>
            <a:ext cx="6019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Hoàn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thành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xây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dựng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mô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hình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CNN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và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CNN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cải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 </a:t>
            </a:r>
            <a:r>
              <a:rPr kumimoji="0" lang="en-US" sz="3600" b="0" i="0" u="none" strike="noStrike" kern="1200" cap="none" spc="0" normalizeH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tiến</a:t>
            </a:r>
            <a:r>
              <a:rPr kumimoji="0" lang="en-US" sz="3600" b="0" i="0" u="none" strike="noStrike" kern="1200" cap="none" spc="0" normalizeH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" panose="020B0604020202020204" charset="0"/>
                <a:ea typeface="+mn-ea"/>
                <a:cs typeface="+mn-cs"/>
              </a:rPr>
              <a:t>.</a:t>
            </a:r>
          </a:p>
          <a:p>
            <a:pPr marL="571500" marR="0" lvl="0" indent="-571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baseline="0" dirty="0" err="1" smtClean="0">
                <a:solidFill>
                  <a:prstClr val="black"/>
                </a:solidFill>
                <a:latin typeface="Cabin" panose="020B0604020202020204" charset="0"/>
              </a:rPr>
              <a:t>Mô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hình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CNN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cải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tiến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có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khả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năng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phát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hiện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bất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thường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ảnh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 y </a:t>
            </a:r>
            <a:r>
              <a:rPr lang="en-US" sz="3600" dirty="0" err="1" smtClean="0">
                <a:solidFill>
                  <a:prstClr val="black"/>
                </a:solidFill>
                <a:latin typeface="Cabin" panose="020B0604020202020204" charset="0"/>
              </a:rPr>
              <a:t>khoa</a:t>
            </a:r>
            <a:r>
              <a:rPr lang="en-US" sz="3600" dirty="0" smtClean="0">
                <a:solidFill>
                  <a:prstClr val="black"/>
                </a:solidFill>
                <a:latin typeface="Cabin" panose="020B0604020202020204" charset="0"/>
              </a:rPr>
              <a:t>.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" panose="020B0604020202020204" charset="0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34800" y="3510780"/>
            <a:ext cx="3276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/>
              <a:t>Hạn</a:t>
            </a:r>
            <a:r>
              <a:rPr lang="en-US" sz="4000" dirty="0" smtClean="0"/>
              <a:t> </a:t>
            </a:r>
            <a:r>
              <a:rPr lang="en-US" sz="4000" dirty="0" err="1" smtClean="0"/>
              <a:t>chế</a:t>
            </a:r>
            <a:endParaRPr lang="en-US" sz="4000" dirty="0"/>
          </a:p>
        </p:txBody>
      </p:sp>
      <p:sp>
        <p:nvSpPr>
          <p:cNvPr id="19" name="TextBox 18"/>
          <p:cNvSpPr txBox="1"/>
          <p:nvPr/>
        </p:nvSpPr>
        <p:spPr>
          <a:xfrm>
            <a:off x="9601200" y="4723741"/>
            <a:ext cx="75438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 smtClean="0"/>
              <a:t>Thời</a:t>
            </a:r>
            <a:r>
              <a:rPr lang="en-US" sz="3600" dirty="0" smtClean="0"/>
              <a:t> </a:t>
            </a:r>
            <a:r>
              <a:rPr lang="en-US" sz="3600" dirty="0" err="1" smtClean="0"/>
              <a:t>gian</a:t>
            </a:r>
            <a:r>
              <a:rPr lang="en-US" sz="3600" dirty="0" smtClean="0"/>
              <a:t> </a:t>
            </a:r>
            <a:r>
              <a:rPr lang="en-US" sz="3600" dirty="0" err="1" smtClean="0"/>
              <a:t>huấn</a:t>
            </a:r>
            <a:r>
              <a:rPr lang="en-US" sz="3600" dirty="0" smtClean="0"/>
              <a:t> </a:t>
            </a:r>
            <a:r>
              <a:rPr lang="en-US" sz="3600" dirty="0" err="1" smtClean="0"/>
              <a:t>luyện</a:t>
            </a:r>
            <a:r>
              <a:rPr lang="en-US" sz="3600" dirty="0" smtClean="0"/>
              <a:t> </a:t>
            </a:r>
            <a:r>
              <a:rPr lang="en-US" sz="3600" dirty="0" err="1" smtClean="0"/>
              <a:t>lâu</a:t>
            </a:r>
            <a:r>
              <a:rPr lang="en-US" sz="3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 smtClean="0"/>
              <a:t>Tập</a:t>
            </a:r>
            <a:r>
              <a:rPr lang="en-US" sz="3600" dirty="0" smtClean="0"/>
              <a:t> </a:t>
            </a:r>
            <a:r>
              <a:rPr lang="en-US" sz="3600" dirty="0" err="1" smtClean="0"/>
              <a:t>dữ</a:t>
            </a:r>
            <a:r>
              <a:rPr lang="en-US" sz="3600" dirty="0" smtClean="0"/>
              <a:t> </a:t>
            </a:r>
            <a:r>
              <a:rPr lang="en-US" sz="3600" dirty="0" err="1" smtClean="0"/>
              <a:t>liệu</a:t>
            </a:r>
            <a:r>
              <a:rPr lang="en-US" sz="3600" dirty="0" smtClean="0"/>
              <a:t> </a:t>
            </a:r>
            <a:r>
              <a:rPr lang="en-US" sz="3600" dirty="0" err="1" smtClean="0"/>
              <a:t>còn</a:t>
            </a:r>
            <a:r>
              <a:rPr lang="en-US" sz="3600" dirty="0" smtClean="0"/>
              <a:t> </a:t>
            </a:r>
            <a:r>
              <a:rPr lang="en-US" sz="3600" dirty="0" err="1" smtClean="0"/>
              <a:t>mất</a:t>
            </a:r>
            <a:r>
              <a:rPr lang="en-US" sz="3600" dirty="0" smtClean="0"/>
              <a:t> </a:t>
            </a:r>
            <a:r>
              <a:rPr lang="en-US" sz="3600" dirty="0" err="1" smtClean="0"/>
              <a:t>cân</a:t>
            </a:r>
            <a:r>
              <a:rPr lang="en-US" sz="3600" dirty="0" smtClean="0"/>
              <a:t> </a:t>
            </a:r>
            <a:r>
              <a:rPr lang="en-US" sz="3600" dirty="0" err="1" smtClean="0"/>
              <a:t>bằng</a:t>
            </a:r>
            <a:r>
              <a:rPr lang="en-US" sz="3600" dirty="0"/>
              <a:t> </a:t>
            </a:r>
            <a:r>
              <a:rPr lang="en-US" sz="3600" dirty="0" smtClean="0"/>
              <a:t>do </a:t>
            </a:r>
            <a:r>
              <a:rPr lang="en-US" sz="3600" dirty="0" err="1" smtClean="0"/>
              <a:t>ảnh</a:t>
            </a:r>
            <a:r>
              <a:rPr lang="en-US" sz="3600" dirty="0" smtClean="0"/>
              <a:t> </a:t>
            </a:r>
            <a:r>
              <a:rPr lang="en-US" sz="3600" dirty="0" err="1" smtClean="0"/>
              <a:t>viêm</a:t>
            </a:r>
            <a:r>
              <a:rPr lang="en-US" sz="3600" dirty="0" smtClean="0"/>
              <a:t> </a:t>
            </a:r>
            <a:r>
              <a:rPr lang="en-US" sz="3600" dirty="0" err="1" smtClean="0"/>
              <a:t>phổi</a:t>
            </a:r>
            <a:r>
              <a:rPr lang="en-US" sz="3600" dirty="0" smtClean="0"/>
              <a:t> </a:t>
            </a:r>
            <a:r>
              <a:rPr lang="en-US" sz="3600" dirty="0" err="1" smtClean="0"/>
              <a:t>nhiều</a:t>
            </a:r>
            <a:r>
              <a:rPr lang="en-US" sz="3600" dirty="0" smtClean="0"/>
              <a:t> </a:t>
            </a:r>
            <a:r>
              <a:rPr lang="en-US" sz="3600" dirty="0" err="1" smtClean="0"/>
              <a:t>hơn</a:t>
            </a:r>
            <a:r>
              <a:rPr lang="en-US" sz="3600" dirty="0" smtClean="0"/>
              <a:t> </a:t>
            </a:r>
            <a:r>
              <a:rPr lang="en-US" sz="3600" dirty="0" err="1" smtClean="0"/>
              <a:t>ảnh</a:t>
            </a:r>
            <a:r>
              <a:rPr lang="en-US" sz="3600" dirty="0" smtClean="0"/>
              <a:t> </a:t>
            </a:r>
            <a:r>
              <a:rPr lang="en-US" sz="3600" dirty="0" err="1" smtClean="0"/>
              <a:t>bình</a:t>
            </a:r>
            <a:r>
              <a:rPr lang="en-US" sz="3600" dirty="0" smtClean="0"/>
              <a:t> </a:t>
            </a:r>
            <a:r>
              <a:rPr lang="en-US" sz="3600" dirty="0" err="1" smtClean="0"/>
              <a:t>thường</a:t>
            </a:r>
            <a:r>
              <a:rPr lang="en-US" sz="36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2011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2910273"/>
            <a:ext cx="18288000" cy="7376727"/>
            <a:chOff x="0" y="0"/>
            <a:chExt cx="5762066" cy="246086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762066" cy="2460863"/>
            </a:xfrm>
            <a:custGeom>
              <a:avLst/>
              <a:gdLst/>
              <a:ahLst/>
              <a:cxnLst/>
              <a:rect l="l" t="t" r="r" b="b"/>
              <a:pathLst>
                <a:path w="5762066" h="2460863">
                  <a:moveTo>
                    <a:pt x="0" y="0"/>
                  </a:moveTo>
                  <a:lnTo>
                    <a:pt x="5762066" y="0"/>
                  </a:lnTo>
                  <a:lnTo>
                    <a:pt x="5762066" y="2460863"/>
                  </a:lnTo>
                  <a:lnTo>
                    <a:pt x="0" y="246086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9294" y="657204"/>
            <a:ext cx="15795020" cy="1907038"/>
            <a:chOff x="0" y="0"/>
            <a:chExt cx="5762066" cy="69569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62066" cy="695693"/>
            </a:xfrm>
            <a:custGeom>
              <a:avLst/>
              <a:gdLst/>
              <a:ahLst/>
              <a:cxnLst/>
              <a:rect l="l" t="t" r="r" b="b"/>
              <a:pathLst>
                <a:path w="5762066" h="695693">
                  <a:moveTo>
                    <a:pt x="0" y="0"/>
                  </a:moveTo>
                  <a:lnTo>
                    <a:pt x="5762066" y="0"/>
                  </a:lnTo>
                  <a:lnTo>
                    <a:pt x="5762066" y="695693"/>
                  </a:lnTo>
                  <a:lnTo>
                    <a:pt x="0" y="695693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7" name="Freeform 7"/>
          <p:cNvSpPr/>
          <p:nvPr/>
        </p:nvSpPr>
        <p:spPr>
          <a:xfrm rot="-278358">
            <a:off x="-1432939" y="-269558"/>
            <a:ext cx="5304464" cy="1668495"/>
          </a:xfrm>
          <a:custGeom>
            <a:avLst/>
            <a:gdLst/>
            <a:ahLst/>
            <a:cxnLst/>
            <a:rect l="l" t="t" r="r" b="b"/>
            <a:pathLst>
              <a:path w="5304464" h="1668495">
                <a:moveTo>
                  <a:pt x="0" y="0"/>
                </a:moveTo>
                <a:lnTo>
                  <a:pt x="5304465" y="0"/>
                </a:lnTo>
                <a:lnTo>
                  <a:pt x="5304465" y="1668495"/>
                </a:lnTo>
                <a:lnTo>
                  <a:pt x="0" y="16684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3683996" y="924916"/>
            <a:ext cx="10839717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08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0" b="1" dirty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4</a:t>
            </a:r>
            <a:r>
              <a:rPr kumimoji="0" lang="en-US" sz="9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. </a:t>
            </a:r>
            <a:r>
              <a:rPr kumimoji="0" lang="en-US" sz="90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Hướng</a:t>
            </a:r>
            <a:r>
              <a:rPr kumimoji="0" lang="en-US" sz="9000" b="1" i="0" u="none" strike="noStrike" kern="1200" cap="none" spc="0" normalizeH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kumimoji="0" lang="en-US" sz="9000" b="1" i="0" u="none" strike="noStrike" kern="1200" cap="none" spc="0" normalizeH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phát</a:t>
            </a:r>
            <a:r>
              <a:rPr kumimoji="0" lang="en-US" sz="9000" b="1" i="0" u="none" strike="noStrike" kern="1200" cap="none" spc="0" normalizeH="0" noProof="0" dirty="0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 </a:t>
            </a:r>
            <a:r>
              <a:rPr kumimoji="0" lang="en-US" sz="9000" b="1" i="0" u="none" strike="noStrike" kern="1200" cap="none" spc="0" normalizeH="0" noProof="0" dirty="0" err="1" smtClean="0">
                <a:ln>
                  <a:noFill/>
                </a:ln>
                <a:solidFill>
                  <a:srgbClr val="003EA8"/>
                </a:solidFill>
                <a:effectLst/>
                <a:uLnTx/>
                <a:uFillTx/>
                <a:latin typeface="Muli Bold"/>
                <a:ea typeface="Muli Bold"/>
                <a:cs typeface="Muli Bold"/>
                <a:sym typeface="Muli Bold"/>
              </a:rPr>
              <a:t>triển</a:t>
            </a:r>
            <a:endParaRPr kumimoji="0" lang="en-US" sz="9000" b="1" i="0" u="none" strike="noStrike" kern="1200" cap="none" spc="0" normalizeH="0" baseline="0" noProof="0" dirty="0">
              <a:ln>
                <a:noFill/>
              </a:ln>
              <a:solidFill>
                <a:srgbClr val="003EA8"/>
              </a:solidFill>
              <a:effectLst/>
              <a:uLnTx/>
              <a:uFillTx/>
              <a:latin typeface="Muli Bold"/>
              <a:ea typeface="Muli Bold"/>
              <a:cs typeface="Muli Bold"/>
              <a:sym typeface="Muli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819400" y="3671064"/>
            <a:ext cx="5029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 smtClean="0"/>
              <a:t>Hướng</a:t>
            </a:r>
            <a:r>
              <a:rPr lang="en-US" sz="4000" dirty="0" smtClean="0"/>
              <a:t> </a:t>
            </a:r>
            <a:r>
              <a:rPr lang="en-US" sz="4000" dirty="0" err="1" smtClean="0"/>
              <a:t>phát</a:t>
            </a:r>
            <a:r>
              <a:rPr lang="en-US" sz="4000" dirty="0" smtClean="0"/>
              <a:t> </a:t>
            </a:r>
            <a:r>
              <a:rPr lang="en-US" sz="4000" dirty="0" err="1" smtClean="0"/>
              <a:t>triển</a:t>
            </a:r>
            <a:endParaRPr lang="en-US" sz="4000" dirty="0" smtClean="0"/>
          </a:p>
        </p:txBody>
      </p:sp>
      <p:sp>
        <p:nvSpPr>
          <p:cNvPr id="11" name="TextBox 10"/>
          <p:cNvSpPr txBox="1"/>
          <p:nvPr/>
        </p:nvSpPr>
        <p:spPr>
          <a:xfrm>
            <a:off x="2514600" y="5139741"/>
            <a:ext cx="62865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3600" dirty="0" err="1"/>
              <a:t>Mở</a:t>
            </a:r>
            <a:r>
              <a:rPr lang="en-US" sz="3600" dirty="0"/>
              <a:t> </a:t>
            </a:r>
            <a:r>
              <a:rPr lang="en-US" sz="3600" dirty="0" err="1"/>
              <a:t>rộng</a:t>
            </a:r>
            <a:r>
              <a:rPr lang="en-US" sz="3600" dirty="0"/>
              <a:t>, </a:t>
            </a:r>
            <a:r>
              <a:rPr lang="en-US" sz="3600" dirty="0" err="1"/>
              <a:t>tăng</a:t>
            </a:r>
            <a:r>
              <a:rPr lang="en-US" sz="3600" dirty="0"/>
              <a:t> </a:t>
            </a:r>
            <a:r>
              <a:rPr lang="en-US" sz="3600" dirty="0" err="1"/>
              <a:t>kích</a:t>
            </a:r>
            <a:r>
              <a:rPr lang="en-US" sz="3600" dirty="0"/>
              <a:t> </a:t>
            </a:r>
            <a:r>
              <a:rPr lang="en-US" sz="3600" dirty="0" err="1"/>
              <a:t>thước</a:t>
            </a:r>
            <a:r>
              <a:rPr lang="en-US" sz="3600" dirty="0"/>
              <a:t> </a:t>
            </a:r>
            <a:r>
              <a:rPr lang="en-US" sz="3600" dirty="0" err="1"/>
              <a:t>bộ</a:t>
            </a:r>
            <a:r>
              <a:rPr lang="en-US" sz="3600" dirty="0"/>
              <a:t> </a:t>
            </a:r>
            <a:r>
              <a:rPr lang="en-US" sz="3600" dirty="0" err="1"/>
              <a:t>dữ</a:t>
            </a:r>
            <a:r>
              <a:rPr lang="en-US" sz="3600" dirty="0"/>
              <a:t> </a:t>
            </a:r>
            <a:r>
              <a:rPr lang="en-US" sz="3600" dirty="0" err="1"/>
              <a:t>liệu</a:t>
            </a:r>
            <a:r>
              <a:rPr lang="en-US" sz="3600" dirty="0"/>
              <a:t> </a:t>
            </a:r>
            <a:r>
              <a:rPr lang="en-US" sz="3600" dirty="0" err="1"/>
              <a:t>để</a:t>
            </a:r>
            <a:r>
              <a:rPr lang="en-US" sz="3600" dirty="0"/>
              <a:t> </a:t>
            </a:r>
            <a:r>
              <a:rPr lang="en-US" sz="3600" dirty="0" err="1"/>
              <a:t>bộ</a:t>
            </a:r>
            <a:r>
              <a:rPr lang="en-US" sz="3600" dirty="0"/>
              <a:t> </a:t>
            </a:r>
            <a:r>
              <a:rPr lang="en-US" sz="3600" dirty="0" err="1"/>
              <a:t>dữ</a:t>
            </a:r>
            <a:r>
              <a:rPr lang="en-US" sz="3600" dirty="0"/>
              <a:t> </a:t>
            </a:r>
            <a:r>
              <a:rPr lang="en-US" sz="3600" dirty="0" err="1"/>
              <a:t>liệu</a:t>
            </a:r>
            <a:r>
              <a:rPr lang="en-US" sz="3600" dirty="0"/>
              <a:t> </a:t>
            </a:r>
            <a:r>
              <a:rPr lang="en-US" sz="3600" dirty="0" err="1"/>
              <a:t>cân</a:t>
            </a:r>
            <a:r>
              <a:rPr lang="en-US" sz="3600" dirty="0"/>
              <a:t> </a:t>
            </a:r>
            <a:r>
              <a:rPr lang="en-US" sz="3600" dirty="0" err="1"/>
              <a:t>bằng</a:t>
            </a:r>
            <a:r>
              <a:rPr lang="en-US" sz="3600" dirty="0"/>
              <a:t> </a:t>
            </a:r>
            <a:r>
              <a:rPr lang="en-US" sz="3600" dirty="0" err="1"/>
              <a:t>hơn</a:t>
            </a:r>
            <a:r>
              <a:rPr lang="en-US" sz="3600" dirty="0" smtClean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600" dirty="0" err="1"/>
              <a:t>Tăng</a:t>
            </a:r>
            <a:r>
              <a:rPr lang="en-US" sz="3600" dirty="0"/>
              <a:t> </a:t>
            </a:r>
            <a:r>
              <a:rPr lang="en-US" sz="3600" dirty="0" err="1"/>
              <a:t>tốc</a:t>
            </a:r>
            <a:r>
              <a:rPr lang="en-US" sz="3600" dirty="0"/>
              <a:t> </a:t>
            </a:r>
            <a:r>
              <a:rPr lang="en-US" sz="3600" dirty="0" err="1"/>
              <a:t>độ</a:t>
            </a:r>
            <a:r>
              <a:rPr lang="en-US" sz="3600" dirty="0"/>
              <a:t> </a:t>
            </a:r>
            <a:r>
              <a:rPr lang="en-US" sz="3600" dirty="0" err="1"/>
              <a:t>huấn</a:t>
            </a:r>
            <a:r>
              <a:rPr lang="en-US" sz="3600" dirty="0"/>
              <a:t> </a:t>
            </a:r>
            <a:r>
              <a:rPr lang="en-US" sz="3600" dirty="0" err="1"/>
              <a:t>luyện</a:t>
            </a:r>
            <a:r>
              <a:rPr lang="en-US" sz="36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599098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4354" r="-1468" b="-5603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528453" y="2607690"/>
            <a:ext cx="12280743" cy="1371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800"/>
              </a:lnSpc>
              <a:spcBef>
                <a:spcPct val="0"/>
              </a:spcBef>
            </a:pPr>
            <a:r>
              <a:rPr lang="en-US" sz="9000" b="1" dirty="0" smtClean="0">
                <a:solidFill>
                  <a:srgbClr val="003EA8"/>
                </a:solidFill>
                <a:latin typeface="Muli Bold"/>
                <a:ea typeface="Muli Bold"/>
                <a:cs typeface="Muli Bold"/>
                <a:sym typeface="Muli Bold"/>
              </a:rPr>
              <a:t>Thank you !!!</a:t>
            </a:r>
            <a:endParaRPr lang="en-US" sz="9000" b="1" dirty="0">
              <a:solidFill>
                <a:srgbClr val="003EA8"/>
              </a:solidFill>
              <a:latin typeface="Muli Bold"/>
              <a:ea typeface="Muli Bold"/>
              <a:cs typeface="Muli Bold"/>
              <a:sym typeface="Muli Bold"/>
            </a:endParaRPr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404956" y="8064673"/>
            <a:ext cx="529685" cy="529685"/>
            <a:chOff x="0" y="0"/>
            <a:chExt cx="6355080" cy="635508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5080" cy="6355080"/>
            </a:xfrm>
            <a:custGeom>
              <a:avLst/>
              <a:gdLst/>
              <a:ahLst/>
              <a:cxnLst/>
              <a:rect l="l" t="t" r="r" b="b"/>
              <a:pathLst>
                <a:path w="6355080" h="6355080">
                  <a:moveTo>
                    <a:pt x="3177540" y="6355080"/>
                  </a:moveTo>
                  <a:cubicBezTo>
                    <a:pt x="2329180" y="6355080"/>
                    <a:pt x="1530350" y="6024880"/>
                    <a:pt x="930910" y="5424170"/>
                  </a:cubicBezTo>
                  <a:cubicBezTo>
                    <a:pt x="330200" y="4824730"/>
                    <a:pt x="0" y="4025900"/>
                    <a:pt x="0" y="3177540"/>
                  </a:cubicBezTo>
                  <a:cubicBezTo>
                    <a:pt x="0" y="2329180"/>
                    <a:pt x="330200" y="1530350"/>
                    <a:pt x="930910" y="930910"/>
                  </a:cubicBezTo>
                  <a:cubicBezTo>
                    <a:pt x="1530350" y="330200"/>
                    <a:pt x="2329180" y="0"/>
                    <a:pt x="3177540" y="0"/>
                  </a:cubicBezTo>
                  <a:cubicBezTo>
                    <a:pt x="4025900" y="0"/>
                    <a:pt x="4824730" y="330200"/>
                    <a:pt x="5424170" y="930910"/>
                  </a:cubicBezTo>
                  <a:cubicBezTo>
                    <a:pt x="6024880" y="1531620"/>
                    <a:pt x="6355080" y="2329180"/>
                    <a:pt x="6355080" y="3177540"/>
                  </a:cubicBezTo>
                  <a:cubicBezTo>
                    <a:pt x="6355080" y="4025900"/>
                    <a:pt x="6024880" y="4824730"/>
                    <a:pt x="5424170" y="5424170"/>
                  </a:cubicBezTo>
                  <a:cubicBezTo>
                    <a:pt x="4824730" y="6024880"/>
                    <a:pt x="4025900" y="6355080"/>
                    <a:pt x="3177540" y="6355080"/>
                  </a:cubicBezTo>
                  <a:close/>
                  <a:moveTo>
                    <a:pt x="3177540" y="190500"/>
                  </a:moveTo>
                  <a:cubicBezTo>
                    <a:pt x="2379980" y="190500"/>
                    <a:pt x="1629410" y="501650"/>
                    <a:pt x="1065530" y="1065530"/>
                  </a:cubicBezTo>
                  <a:cubicBezTo>
                    <a:pt x="501650" y="1629410"/>
                    <a:pt x="190500" y="2379980"/>
                    <a:pt x="190500" y="3177540"/>
                  </a:cubicBezTo>
                  <a:cubicBezTo>
                    <a:pt x="190500" y="3975100"/>
                    <a:pt x="501650" y="4725670"/>
                    <a:pt x="1065530" y="5289550"/>
                  </a:cubicBezTo>
                  <a:cubicBezTo>
                    <a:pt x="1629410" y="5853430"/>
                    <a:pt x="2379980" y="6164580"/>
                    <a:pt x="3177540" y="6164580"/>
                  </a:cubicBezTo>
                  <a:cubicBezTo>
                    <a:pt x="3975100" y="6164580"/>
                    <a:pt x="4725670" y="5853430"/>
                    <a:pt x="5289550" y="5289550"/>
                  </a:cubicBezTo>
                  <a:cubicBezTo>
                    <a:pt x="5853430" y="4725670"/>
                    <a:pt x="6164580" y="3975100"/>
                    <a:pt x="6164580" y="3177540"/>
                  </a:cubicBezTo>
                  <a:cubicBezTo>
                    <a:pt x="6164580" y="2379980"/>
                    <a:pt x="5853430" y="1629410"/>
                    <a:pt x="5289550" y="1065530"/>
                  </a:cubicBezTo>
                  <a:cubicBezTo>
                    <a:pt x="4725670" y="501650"/>
                    <a:pt x="3975100" y="190500"/>
                    <a:pt x="3177540" y="190500"/>
                  </a:cubicBezTo>
                  <a:close/>
                </a:path>
              </a:pathLst>
            </a:custGeom>
            <a:solidFill>
              <a:srgbClr val="003EA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7922772" y="8064673"/>
            <a:ext cx="529685" cy="529685"/>
            <a:chOff x="0" y="0"/>
            <a:chExt cx="6350000" cy="63500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003EA8"/>
            </a:solidFill>
          </p:spPr>
        </p:sp>
      </p:grpSp>
      <p:sp>
        <p:nvSpPr>
          <p:cNvPr id="15" name="Freeform 15"/>
          <p:cNvSpPr/>
          <p:nvPr/>
        </p:nvSpPr>
        <p:spPr>
          <a:xfrm>
            <a:off x="12463910" y="7958580"/>
            <a:ext cx="517455" cy="741871"/>
          </a:xfrm>
          <a:custGeom>
            <a:avLst/>
            <a:gdLst/>
            <a:ahLst/>
            <a:cxnLst/>
            <a:rect l="l" t="t" r="r" b="b"/>
            <a:pathLst>
              <a:path w="517455" h="741871">
                <a:moveTo>
                  <a:pt x="0" y="0"/>
                </a:moveTo>
                <a:lnTo>
                  <a:pt x="517454" y="0"/>
                </a:lnTo>
                <a:lnTo>
                  <a:pt x="517454" y="741871"/>
                </a:lnTo>
                <a:lnTo>
                  <a:pt x="0" y="74187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3625403" y="5777265"/>
            <a:ext cx="2367586" cy="839417"/>
          </a:xfrm>
          <a:custGeom>
            <a:avLst/>
            <a:gdLst/>
            <a:ahLst/>
            <a:cxnLst/>
            <a:rect l="l" t="t" r="r" b="b"/>
            <a:pathLst>
              <a:path w="2367586" h="839417">
                <a:moveTo>
                  <a:pt x="0" y="0"/>
                </a:moveTo>
                <a:lnTo>
                  <a:pt x="2367586" y="0"/>
                </a:lnTo>
                <a:lnTo>
                  <a:pt x="2367586" y="839417"/>
                </a:lnTo>
                <a:lnTo>
                  <a:pt x="0" y="83941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33736" y="5375265"/>
            <a:ext cx="1637441" cy="1643417"/>
          </a:xfrm>
          <a:custGeom>
            <a:avLst/>
            <a:gdLst/>
            <a:ahLst/>
            <a:cxnLst/>
            <a:rect l="l" t="t" r="r" b="b"/>
            <a:pathLst>
              <a:path w="1637441" h="1643417">
                <a:moveTo>
                  <a:pt x="0" y="0"/>
                </a:moveTo>
                <a:lnTo>
                  <a:pt x="1637441" y="0"/>
                </a:lnTo>
                <a:lnTo>
                  <a:pt x="1637441" y="1643417"/>
                </a:lnTo>
                <a:lnTo>
                  <a:pt x="0" y="16434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2031895" y="7212278"/>
            <a:ext cx="4393894" cy="1382079"/>
          </a:xfrm>
          <a:custGeom>
            <a:avLst/>
            <a:gdLst/>
            <a:ahLst/>
            <a:cxnLst/>
            <a:rect l="l" t="t" r="r" b="b"/>
            <a:pathLst>
              <a:path w="4393894" h="1382079">
                <a:moveTo>
                  <a:pt x="0" y="0"/>
                </a:moveTo>
                <a:lnTo>
                  <a:pt x="4393894" y="0"/>
                </a:lnTo>
                <a:lnTo>
                  <a:pt x="4393894" y="1382079"/>
                </a:lnTo>
                <a:lnTo>
                  <a:pt x="0" y="13820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031895" y="5620070"/>
            <a:ext cx="4393894" cy="1062523"/>
          </a:xfrm>
          <a:custGeom>
            <a:avLst/>
            <a:gdLst/>
            <a:ahLst/>
            <a:cxnLst/>
            <a:rect l="l" t="t" r="r" b="b"/>
            <a:pathLst>
              <a:path w="4393894" h="1062523">
                <a:moveTo>
                  <a:pt x="0" y="0"/>
                </a:moveTo>
                <a:lnTo>
                  <a:pt x="4393894" y="0"/>
                </a:lnTo>
                <a:lnTo>
                  <a:pt x="4393894" y="1062524"/>
                </a:lnTo>
                <a:lnTo>
                  <a:pt x="0" y="106252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791337" y="5395948"/>
            <a:ext cx="1446459" cy="1816330"/>
          </a:xfrm>
          <a:custGeom>
            <a:avLst/>
            <a:gdLst/>
            <a:ahLst/>
            <a:cxnLst/>
            <a:rect l="l" t="t" r="r" b="b"/>
            <a:pathLst>
              <a:path w="1446459" h="1816330">
                <a:moveTo>
                  <a:pt x="0" y="0"/>
                </a:moveTo>
                <a:lnTo>
                  <a:pt x="1446459" y="0"/>
                </a:lnTo>
                <a:lnTo>
                  <a:pt x="1446459" y="1816330"/>
                </a:lnTo>
                <a:lnTo>
                  <a:pt x="0" y="18163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xmlns="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791337" y="7821878"/>
            <a:ext cx="815322" cy="904503"/>
          </a:xfrm>
          <a:custGeom>
            <a:avLst/>
            <a:gdLst/>
            <a:ahLst/>
            <a:cxnLst/>
            <a:rect l="l" t="t" r="r" b="b"/>
            <a:pathLst>
              <a:path w="815322" h="904503">
                <a:moveTo>
                  <a:pt x="0" y="0"/>
                </a:moveTo>
                <a:lnTo>
                  <a:pt x="815323" y="0"/>
                </a:lnTo>
                <a:lnTo>
                  <a:pt x="815323" y="904503"/>
                </a:lnTo>
                <a:lnTo>
                  <a:pt x="0" y="90450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xmlns="" r:embed="rId16"/>
                </a:ext>
              </a:extLst>
            </a:blip>
            <a:stretch>
              <a:fillRect r="-135582"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3625403" y="7903318"/>
            <a:ext cx="2455232" cy="611576"/>
          </a:xfrm>
          <a:custGeom>
            <a:avLst/>
            <a:gdLst/>
            <a:ahLst/>
            <a:cxnLst/>
            <a:rect l="l" t="t" r="r" b="b"/>
            <a:pathLst>
              <a:path w="2455232" h="611576">
                <a:moveTo>
                  <a:pt x="0" y="0"/>
                </a:moveTo>
                <a:lnTo>
                  <a:pt x="2455232" y="0"/>
                </a:lnTo>
                <a:lnTo>
                  <a:pt x="2455232" y="611576"/>
                </a:lnTo>
                <a:lnTo>
                  <a:pt x="0" y="6115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xmlns="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2">
      <a:majorFont>
        <a:latin typeface="Times New Roman"/>
        <a:ea typeface=""/>
        <a:cs typeface=""/>
      </a:majorFont>
      <a:minorFont>
        <a:latin typeface="Cabi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338</Words>
  <Application>Microsoft Office PowerPoint</Application>
  <PresentationFormat>Custom</PresentationFormat>
  <Paragraphs>51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Cabin</vt:lpstr>
      <vt:lpstr>Muli</vt:lpstr>
      <vt:lpstr>Arial</vt:lpstr>
      <vt:lpstr>Times New Roman</vt:lpstr>
      <vt:lpstr>Muli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Xanh hải quân Trắng Đen Vẽ nguệch ngoạc Kế hoạch Kinh doanh Bản thuyết trình Kinh doanh</dc:title>
  <cp:lastModifiedBy>Admin</cp:lastModifiedBy>
  <cp:revision>22</cp:revision>
  <dcterms:created xsi:type="dcterms:W3CDTF">2006-08-16T00:00:00Z</dcterms:created>
  <dcterms:modified xsi:type="dcterms:W3CDTF">2025-12-30T09:51:05Z</dcterms:modified>
  <dc:identifier>DAGblk_1rxk</dc:identifier>
</cp:coreProperties>
</file>